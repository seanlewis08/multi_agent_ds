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0"/>
            <a:ext cx="2679192" cy="6858000"/>
          </a:xfrm>
          <a:prstGeom prst="rect">
            <a:avLst/>
          </a:prstGeom>
          <a:solidFill>
            <a:srgbClr val="E04D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TECHNICAL BRIEF — APRIL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Data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Science Pipeline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domain agents plus an orchestrator and a report-writer collaborate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tune a model end-to-end, under review, with auditable decisions at every step.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5577840"/>
            <a:ext cx="731520" cy="54864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715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Lewis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· Root Insurance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418320" y="2286000"/>
            <a:ext cx="2377440" cy="23774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418320" y="24231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5+2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9418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8686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prompt can't tune a model. A team can.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193792" cy="4480560"/>
          </a:xfrm>
          <a:prstGeom prst="rect">
            <a:avLst/>
          </a:prstGeom>
          <a:solidFill>
            <a:srgbClr val="FBF7F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109728" cy="448056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Single-prompt pipelines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LLM to do everything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788920"/>
            <a:ext cx="1097280" cy="36576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260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of concerns — EDA, modeling, and review blur into one loop.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opinion before expensive decisions.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audit: why did we pick these hyperparameters?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to schema drift — one bad call derails the whole run.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5193792" cy="4480560"/>
          </a:xfrm>
          <a:prstGeom prst="rect">
            <a:avLst/>
          </a:prstGeom>
          <a:solidFill>
            <a:srgbClr val="F0E9D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37360"/>
            <a:ext cx="109728" cy="448056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pipelines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one clear role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2788920"/>
            <a:ext cx="109728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9260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prep, modeling, review, and stakeholder sign-off are separate nodes.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decision is checked by a peer reviewer before proceeding.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flows through a typed LangGraph — full audit trail.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models per task — reasoning where it matters, cheap otherwise.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DS Pipeline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8686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five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79476" y="1783080"/>
            <a:ext cx="2212848" cy="42976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2980" y="2103120"/>
            <a:ext cx="1005840" cy="100584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7" name="Text 5"/>
          <p:cNvSpPr/>
          <p:nvPr/>
        </p:nvSpPr>
        <p:spPr>
          <a:xfrm>
            <a:off x="98298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⌕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08076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6636" y="3337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EDA Analyst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11580" y="3886200"/>
            <a:ext cx="54864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" y="40233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the data and writes insights for every other agent.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" y="5669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eda_analyst.py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83764" y="1783080"/>
            <a:ext cx="2212848" cy="42976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7268" y="2103120"/>
            <a:ext cx="1005840" cy="100584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5" name="Text 13"/>
          <p:cNvSpPr/>
          <p:nvPr/>
        </p:nvSpPr>
        <p:spPr>
          <a:xfrm>
            <a:off x="3287268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2912364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20924" y="3337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Engineer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15868" y="3886200"/>
            <a:ext cx="54864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9" name="Text 17"/>
          <p:cNvSpPr/>
          <p:nvPr/>
        </p:nvSpPr>
        <p:spPr>
          <a:xfrm>
            <a:off x="2866644" y="40233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and executes cleaning + feature engineering on the raw data.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20924" y="5669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data_engineer.py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88052" y="1783080"/>
            <a:ext cx="2212848" cy="42976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91556" y="2103120"/>
            <a:ext cx="1005840" cy="100584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23" name="Text 21"/>
          <p:cNvSpPr/>
          <p:nvPr/>
        </p:nvSpPr>
        <p:spPr>
          <a:xfrm>
            <a:off x="5591556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⬈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5216652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5212" y="3337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20156" y="3886200"/>
            <a:ext cx="54864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27" name="Text 25"/>
          <p:cNvSpPr/>
          <p:nvPr/>
        </p:nvSpPr>
        <p:spPr>
          <a:xfrm>
            <a:off x="5170932" y="40233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models, tunes hyperparameters, and owns the modeling loop.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5212" y="5669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ml_modeler.py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92340" y="1783080"/>
            <a:ext cx="2212848" cy="42976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95844" y="2103120"/>
            <a:ext cx="1005840" cy="100584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95844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752094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29500" y="3337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Reviewer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24444" y="3886200"/>
            <a:ext cx="54864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5" name="Text 33"/>
          <p:cNvSpPr/>
          <p:nvPr/>
        </p:nvSpPr>
        <p:spPr>
          <a:xfrm>
            <a:off x="7475220" y="40233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reviews every modeling decision for mathematical rigor.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29500" y="5669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ml_reviewer.py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596628" y="1783080"/>
            <a:ext cx="2212848" cy="42976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200132" y="2103120"/>
            <a:ext cx="1005840" cy="100584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39" name="Text 37"/>
          <p:cNvSpPr/>
          <p:nvPr/>
        </p:nvSpPr>
        <p:spPr>
          <a:xfrm>
            <a:off x="10200132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9825228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733788" y="33375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Stakeholder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428732" y="3886200"/>
            <a:ext cx="54864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43" name="Text 41"/>
          <p:cNvSpPr/>
          <p:nvPr/>
        </p:nvSpPr>
        <p:spPr>
          <a:xfrm>
            <a:off x="9779508" y="40233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Sanity-checks EDA and final report for realism and readability.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733788" y="56692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business_stakeholder.py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scenes: </a:t>
            </a:r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sixth orchestrator agent wires the graph together; a seventh report-writer agent composes the final stakeholder brief.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DS Pipeline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8686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agents move a dataset to a tuned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377440" y="2057400"/>
            <a:ext cx="1810512" cy="36576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20574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Raw EDA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2423160"/>
            <a:ext cx="1810512" cy="10972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2514600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Analyst profiles the raw data; 3 reviewers weigh in.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4197096" y="2697480"/>
            <a:ext cx="155448" cy="182880"/>
          </a:xfrm>
          <a:prstGeom prst="rtTriangle">
            <a:avLst/>
          </a:prstGeom>
          <a:solidFill>
            <a:srgbClr val="FF5A00"/>
          </a:solidFill>
          <a:ln/>
        </p:spPr>
      </p:sp>
      <p:sp>
        <p:nvSpPr>
          <p:cNvPr id="10" name="Shape 8"/>
          <p:cNvSpPr/>
          <p:nvPr/>
        </p:nvSpPr>
        <p:spPr>
          <a:xfrm>
            <a:off x="4361688" y="2057400"/>
            <a:ext cx="1810512" cy="36576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20574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Prep Loop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2423160"/>
            <a:ext cx="1810512" cy="10972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1416" y="2514600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plans prep, Data Engineer executes, iterate until approved.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6181344" y="2697480"/>
            <a:ext cx="155448" cy="182880"/>
          </a:xfrm>
          <a:prstGeom prst="rtTriangle">
            <a:avLst/>
          </a:prstGeom>
          <a:solidFill>
            <a:srgbClr val="FF5A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45936" y="2057400"/>
            <a:ext cx="1810512" cy="36576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20574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Clean EDA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45936" y="2423160"/>
            <a:ext cx="1810512" cy="10972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2514600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Re-profile the processed data; 3 reviewers approve or send back.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8165592" y="2697480"/>
            <a:ext cx="155448" cy="182880"/>
          </a:xfrm>
          <a:prstGeom prst="rtTriangle">
            <a:avLst/>
          </a:prstGeom>
          <a:solidFill>
            <a:srgbClr val="FF5A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330184" y="2057400"/>
            <a:ext cx="1810512" cy="36576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20574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Modeling Loop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30184" y="2423160"/>
            <a:ext cx="1810512" cy="10972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9912" y="2514600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Modeler tunes; ML Reviewer verdicts every material decision.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5400000">
            <a:off x="10149840" y="2697480"/>
            <a:ext cx="155448" cy="182880"/>
          </a:xfrm>
          <a:prstGeom prst="rtTriangle">
            <a:avLst/>
          </a:prstGeom>
          <a:solidFill>
            <a:srgbClr val="FF5A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14432" y="2057400"/>
            <a:ext cx="1810512" cy="36576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405872" y="20574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Final Hand-off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14432" y="2423160"/>
            <a:ext cx="1810512" cy="109728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0" y="2514600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recommendation, audit trail, and stakeholder-ready report.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4069080"/>
            <a:ext cx="9747504" cy="2011680"/>
          </a:xfrm>
          <a:prstGeom prst="rect">
            <a:avLst/>
          </a:prstGeom>
          <a:solidFill>
            <a:srgbClr val="F0E9DE"/>
          </a:solidFill>
          <a:ln/>
        </p:spPr>
      </p:sp>
      <p:sp>
        <p:nvSpPr>
          <p:cNvPr id="30" name="Shape 28"/>
          <p:cNvSpPr/>
          <p:nvPr/>
        </p:nvSpPr>
        <p:spPr>
          <a:xfrm>
            <a:off x="3163824" y="422452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48072" y="422452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422452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16568" y="42245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100816" y="42245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160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Analyst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4526280"/>
            <a:ext cx="956462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63824" y="45902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48072" y="459028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0" y="45902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16568" y="45902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00816" y="45902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526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68880" y="4892040"/>
            <a:ext cx="956462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63824" y="495604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48072" y="49560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0" y="495604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16568" y="495604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100816" y="495604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892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68880" y="5257800"/>
            <a:ext cx="956462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63824" y="532180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48072" y="5321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0" y="532180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16568" y="532180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100816" y="5321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Reviewer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468880" y="5623560"/>
            <a:ext cx="956462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63824" y="568756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48072" y="56875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32320" y="568756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16568" y="56875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100816" y="5687568"/>
            <a:ext cx="237744" cy="237744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5623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377440" y="6172200"/>
            <a:ext cx="974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Filled dot = agent actively produces output in that phase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DS Pipeline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8686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modeling loop: 8 moves, 5 review gates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71600" cy="777240"/>
          </a:xfrm>
          <a:prstGeom prst="rect">
            <a:avLst/>
          </a:prstGeom>
          <a:solidFill>
            <a:srgbClr val="FBF7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4864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019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defaults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12848" y="1828800"/>
            <a:ext cx="777240" cy="777240"/>
          </a:xfrm>
          <a:prstGeom prst="diamond">
            <a:avLst/>
          </a:prstGeom>
          <a:solidFill>
            <a:srgbClr val="FF5A00"/>
          </a:solidFill>
          <a:ln/>
        </p:spPr>
      </p:sp>
      <p:sp>
        <p:nvSpPr>
          <p:cNvPr id="10" name="Text 8"/>
          <p:cNvSpPr/>
          <p:nvPr/>
        </p:nvSpPr>
        <p:spPr>
          <a:xfrm>
            <a:off x="2212848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38528" y="2624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91256" y="1828800"/>
            <a:ext cx="1371600" cy="777240"/>
          </a:xfrm>
          <a:prstGeom prst="rect">
            <a:avLst/>
          </a:prstGeom>
          <a:solidFill>
            <a:srgbClr val="FBF7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1256" y="1828800"/>
            <a:ext cx="54864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3282696" y="19019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N-Est 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82696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64024" y="1828800"/>
            <a:ext cx="1371600" cy="777240"/>
          </a:xfrm>
          <a:prstGeom prst="rect">
            <a:avLst/>
          </a:prstGeom>
          <a:solidFill>
            <a:srgbClr val="FBF7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1828800"/>
            <a:ext cx="54864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19019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Tune HParams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55464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trials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36792" y="1828800"/>
            <a:ext cx="777240" cy="777240"/>
          </a:xfrm>
          <a:prstGeom prst="diamond">
            <a:avLst/>
          </a:prstGeom>
          <a:solidFill>
            <a:srgbClr val="FF5A00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62472" y="2624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0" y="1828800"/>
            <a:ext cx="1371600" cy="777240"/>
          </a:xfrm>
          <a:prstGeom prst="rect">
            <a:avLst/>
          </a:prstGeom>
          <a:solidFill>
            <a:srgbClr val="FBF7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828800"/>
            <a:ext cx="54864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9019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 Tuned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87968" y="1828800"/>
            <a:ext cx="1371600" cy="777240"/>
          </a:xfrm>
          <a:prstGeom prst="rect">
            <a:avLst/>
          </a:prstGeom>
          <a:solidFill>
            <a:srgbClr val="FBF7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87968" y="1828800"/>
            <a:ext cx="54864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Text 27"/>
          <p:cNvSpPr/>
          <p:nvPr/>
        </p:nvSpPr>
        <p:spPr>
          <a:xfrm>
            <a:off x="8979408" y="19019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Adjust LR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79408" y="22311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step-size refinement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82328" y="3749040"/>
            <a:ext cx="777240" cy="777240"/>
          </a:xfrm>
          <a:prstGeom prst="diamond">
            <a:avLst/>
          </a:prstGeom>
          <a:solidFill>
            <a:srgbClr val="FF5A00"/>
          </a:solidFill>
          <a:ln/>
        </p:spPr>
      </p:sp>
      <p:sp>
        <p:nvSpPr>
          <p:cNvPr id="32" name="Text 30"/>
          <p:cNvSpPr/>
          <p:nvPr/>
        </p:nvSpPr>
        <p:spPr>
          <a:xfrm>
            <a:off x="948232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208008" y="4544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09560" y="3749040"/>
            <a:ext cx="1371600" cy="777240"/>
          </a:xfrm>
          <a:prstGeom prst="rect">
            <a:avLst/>
          </a:prstGeom>
          <a:solidFill>
            <a:srgbClr val="FBF7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09560" y="3749040"/>
            <a:ext cx="54864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3822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01000" y="41513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SHAP/gain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36792" y="3749040"/>
            <a:ext cx="1371600" cy="777240"/>
          </a:xfrm>
          <a:prstGeom prst="rect">
            <a:avLst/>
          </a:prstGeom>
          <a:solidFill>
            <a:srgbClr val="FBF7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3749040"/>
            <a:ext cx="54864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0" name="Text 38"/>
          <p:cNvSpPr/>
          <p:nvPr/>
        </p:nvSpPr>
        <p:spPr>
          <a:xfrm>
            <a:off x="6428232" y="3822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Selection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28232" y="41513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low-signal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58384" y="3749040"/>
            <a:ext cx="777240" cy="777240"/>
          </a:xfrm>
          <a:prstGeom prst="diamond">
            <a:avLst/>
          </a:prstGeom>
          <a:solidFill>
            <a:srgbClr val="FF5A00"/>
          </a:solidFill>
          <a:ln/>
        </p:spPr>
      </p:sp>
      <p:sp>
        <p:nvSpPr>
          <p:cNvPr id="43" name="Text 41"/>
          <p:cNvSpPr/>
          <p:nvPr/>
        </p:nvSpPr>
        <p:spPr>
          <a:xfrm>
            <a:off x="5358384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084064" y="4544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85616" y="3749040"/>
            <a:ext cx="1371600" cy="777240"/>
          </a:xfrm>
          <a:prstGeom prst="rect">
            <a:avLst/>
          </a:prstGeom>
          <a:solidFill>
            <a:srgbClr val="FBF7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85616" y="3749040"/>
            <a:ext cx="54864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7" name="Text 45"/>
          <p:cNvSpPr/>
          <p:nvPr/>
        </p:nvSpPr>
        <p:spPr>
          <a:xfrm>
            <a:off x="3877056" y="3822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Rec.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77056" y="41513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model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07208" y="3749040"/>
            <a:ext cx="777240" cy="777240"/>
          </a:xfrm>
          <a:prstGeom prst="diamond">
            <a:avLst/>
          </a:prstGeom>
          <a:solidFill>
            <a:srgbClr val="FF5A00"/>
          </a:solidFill>
          <a:ln/>
        </p:spPr>
      </p:sp>
      <p:sp>
        <p:nvSpPr>
          <p:cNvPr id="50" name="Text 48"/>
          <p:cNvSpPr/>
          <p:nvPr/>
        </p:nvSpPr>
        <p:spPr>
          <a:xfrm>
            <a:off x="280720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532888" y="4544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011680" y="221742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990088" y="221742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562856" y="221742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135624" y="221742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114032" y="221742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686800" y="221742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0259568" y="2217420"/>
            <a:ext cx="365760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25328" y="2217420"/>
            <a:ext cx="0" cy="192024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59568" y="4137660"/>
            <a:ext cx="365760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61" name="Shape 59"/>
          <p:cNvSpPr/>
          <p:nvPr/>
        </p:nvSpPr>
        <p:spPr>
          <a:xfrm>
            <a:off x="9372600" y="413766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62" name="Shape 60"/>
          <p:cNvSpPr/>
          <p:nvPr/>
        </p:nvSpPr>
        <p:spPr>
          <a:xfrm>
            <a:off x="7799832" y="413766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63" name="Shape 61"/>
          <p:cNvSpPr/>
          <p:nvPr/>
        </p:nvSpPr>
        <p:spPr>
          <a:xfrm>
            <a:off x="6227064" y="413766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64" name="Shape 62"/>
          <p:cNvSpPr/>
          <p:nvPr/>
        </p:nvSpPr>
        <p:spPr>
          <a:xfrm>
            <a:off x="5248656" y="413766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65" name="Shape 63"/>
          <p:cNvSpPr/>
          <p:nvPr/>
        </p:nvSpPr>
        <p:spPr>
          <a:xfrm>
            <a:off x="3675888" y="4137660"/>
            <a:ext cx="109728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66" name="Shape 64"/>
          <p:cNvSpPr/>
          <p:nvPr/>
        </p:nvSpPr>
        <p:spPr>
          <a:xfrm>
            <a:off x="1325880" y="2926080"/>
            <a:ext cx="1275588" cy="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2601468" y="2606040"/>
            <a:ext cx="0" cy="32004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325880" y="2606040"/>
            <a:ext cx="0" cy="32004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1325880" y="2944368"/>
            <a:ext cx="1275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49824" y="2926080"/>
            <a:ext cx="1275588" cy="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6725412" y="2606040"/>
            <a:ext cx="0" cy="32004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5449824" y="2606040"/>
            <a:ext cx="0" cy="32004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73" name="Text 71"/>
          <p:cNvSpPr/>
          <p:nvPr/>
        </p:nvSpPr>
        <p:spPr>
          <a:xfrm>
            <a:off x="5449824" y="2944368"/>
            <a:ext cx="1275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022592" y="4846320"/>
            <a:ext cx="1572768" cy="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7022592" y="4526280"/>
            <a:ext cx="0" cy="32004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8595360" y="4526280"/>
            <a:ext cx="0" cy="32004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7022592" y="486460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195828" y="4846320"/>
            <a:ext cx="1275588" cy="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3195828" y="4526280"/>
            <a:ext cx="0" cy="32004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4471416" y="4526280"/>
            <a:ext cx="0" cy="32004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81" name="Text 79"/>
          <p:cNvSpPr/>
          <p:nvPr/>
        </p:nvSpPr>
        <p:spPr>
          <a:xfrm>
            <a:off x="3195828" y="4864608"/>
            <a:ext cx="1275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0080" y="5394960"/>
            <a:ext cx="365760" cy="228600"/>
          </a:xfrm>
          <a:prstGeom prst="rect">
            <a:avLst/>
          </a:prstGeom>
          <a:solidFill>
            <a:srgbClr val="FBF7F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97280" y="5376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Modeler proposes a move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303520" y="5349240"/>
            <a:ext cx="310896" cy="310896"/>
          </a:xfrm>
          <a:prstGeom prst="diamond">
            <a:avLst/>
          </a:prstGeom>
          <a:solidFill>
            <a:srgbClr val="FF5A00"/>
          </a:solidFill>
          <a:ln/>
        </p:spPr>
      </p:sp>
      <p:sp>
        <p:nvSpPr>
          <p:cNvPr id="85" name="Text 83"/>
          <p:cNvSpPr/>
          <p:nvPr/>
        </p:nvSpPr>
        <p:spPr>
          <a:xfrm>
            <a:off x="5715000" y="5376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Reviewer verdicts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869680" y="5504688"/>
            <a:ext cx="731520" cy="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9646920" y="5376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→ iterate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solidFill>
            <a:srgbClr val="F0E9DE"/>
          </a:solidFill>
          <a:ln/>
        </p:spPr>
      </p:sp>
      <p:sp>
        <p:nvSpPr>
          <p:cNvPr id="89" name="Shape 87"/>
          <p:cNvSpPr/>
          <p:nvPr/>
        </p:nvSpPr>
        <p:spPr>
          <a:xfrm>
            <a:off x="640080" y="5852160"/>
            <a:ext cx="73152" cy="50292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90" name="Text 88"/>
          <p:cNvSpPr/>
          <p:nvPr/>
        </p:nvSpPr>
        <p:spPr>
          <a:xfrm>
            <a:off x="868680" y="5852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decision is self-approved. Every material change is justified to a separate reviewer before the loop advances.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DS Pipeline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8686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CODEBASE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src/multi_agent_ds/ — layered by responsibility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651760" y="1691640"/>
            <a:ext cx="7132320" cy="658368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51760" y="1691640"/>
            <a:ext cx="196596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691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— nodes, edges, shared state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20391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graph.py · state.py · router.py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rot="10800000">
            <a:off x="6144768" y="2351837"/>
            <a:ext cx="146304" cy="91440"/>
          </a:xfrm>
          <a:prstGeom prst="rtTriangle">
            <a:avLst/>
          </a:prstGeom>
          <a:solidFill>
            <a:srgbClr val="FF5A00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2441448"/>
            <a:ext cx="7132320" cy="658368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2441448"/>
            <a:ext cx="196596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4414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workflows/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4871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pipelines (load → skills → log)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 · preparation · modeling · evaluation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144768" y="3101645"/>
            <a:ext cx="146304" cy="91440"/>
          </a:xfrm>
          <a:prstGeom prst="rtTriangle">
            <a:avLst/>
          </a:prstGeom>
          <a:solidFill>
            <a:srgbClr val="FF5A00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3191256"/>
            <a:ext cx="7132320" cy="658368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51760" y="3191256"/>
            <a:ext cx="196596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1912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323697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decision makers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53872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eda_analyst · data_engineer · ml_modeler · ml_reviewer · business_stakeholder · orchestrator · report_writer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rot="10800000">
            <a:off x="6144768" y="3851453"/>
            <a:ext cx="146304" cy="91440"/>
          </a:xfrm>
          <a:prstGeom prst="rtTriangle">
            <a:avLst/>
          </a:prstGeom>
          <a:solidFill>
            <a:srgbClr val="FF5A00"/>
          </a:solidFill>
          <a:ln/>
        </p:spPr>
      </p:sp>
      <p:sp>
        <p:nvSpPr>
          <p:cNvPr id="23" name="Shape 21"/>
          <p:cNvSpPr/>
          <p:nvPr/>
        </p:nvSpPr>
        <p:spPr>
          <a:xfrm>
            <a:off x="2651760" y="3941064"/>
            <a:ext cx="7132320" cy="658368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51760" y="3941064"/>
            <a:ext cx="196596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394106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39867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 — pure, no LLM awareness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42885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profiling · cleaning · feature_engineering · modeling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rot="10800000">
            <a:off x="6144768" y="4601261"/>
            <a:ext cx="146304" cy="91440"/>
          </a:xfrm>
          <a:prstGeom prst="rtTriangle">
            <a:avLst/>
          </a:prstGeom>
          <a:solidFill>
            <a:srgbClr val="FF5A00"/>
          </a:solidFill>
          <a:ln/>
        </p:spPr>
      </p:sp>
      <p:sp>
        <p:nvSpPr>
          <p:cNvPr id="29" name="Shape 27"/>
          <p:cNvSpPr/>
          <p:nvPr/>
        </p:nvSpPr>
        <p:spPr>
          <a:xfrm>
            <a:off x="2651760" y="4690872"/>
            <a:ext cx="7132320" cy="658368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51760" y="4690872"/>
            <a:ext cx="196596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4690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754880" y="473659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utilities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0" y="503834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 · evaluation · dataframes · data_generator · artifacts · reporting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66960" y="3337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i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1691640"/>
            <a:ext cx="2057400" cy="1691640"/>
          </a:xfrm>
          <a:prstGeom prst="rect">
            <a:avLst/>
          </a:prstGeom>
          <a:solidFill>
            <a:srgbClr val="F0E9D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1691640"/>
            <a:ext cx="73152" cy="169164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17647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adapters/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" y="20391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isolation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" y="231343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llm/openai.py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llm/routing.py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llm/local.py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agent_frameworks/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langgraph.py · crewai.py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3520440"/>
            <a:ext cx="2057400" cy="1691640"/>
          </a:xfrm>
          <a:prstGeom prst="rect">
            <a:avLst/>
          </a:prstGeom>
          <a:solidFill>
            <a:srgbClr val="F0E9D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520440"/>
            <a:ext cx="73152" cy="169164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" y="35935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1792" y="38679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" y="414223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 (YAML loader)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context.py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contracts.py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registry.py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5760720"/>
            <a:ext cx="11274552" cy="411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5760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rule: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imports only from layers below it — never sideways, never up.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DS Pipeline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8686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ARCHITECTURE — 1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Typed outputs, per-task model routing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03520" cy="4389120"/>
          </a:xfrm>
          <a:prstGeom prst="rect">
            <a:avLst/>
          </a:prstGeom>
          <a:solidFill>
            <a:srgbClr val="FBF7F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438912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Schema-first prompting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134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call returns a Pydantic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697480"/>
            <a:ext cx="4846320" cy="1783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78892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BaselineDecision(BaseModel):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chosen_algorithm: Literal[...]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justification: str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expected_metric: float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adapter.structured_output(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prompt=..., schema=BaselineDecision,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agent='ml_modeler', task='baseline_decision',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free-form text parsing — invalid output fails loudly at the schema boundary.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be safely diffed across agents without regex.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traces and MLflow logs pick up the same typed payloads.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486400" cy="4389120"/>
          </a:xfrm>
          <a:prstGeom prst="rect">
            <a:avLst/>
          </a:prstGeom>
          <a:solidFill>
            <a:srgbClr val="FBF7F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783080"/>
            <a:ext cx="73152" cy="438912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920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Per-task model routing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23134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 resolve each (agent, task) pair to a model.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743200"/>
          <a:ext cx="5029200" cy="169164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9D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D1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9224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4937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data_engineer.execute → coding · moderate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eda_analyst.*           → balanced · cheap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ml_modeler.tuning_decision → reasoning · expensive</a:t>
            </a:r>
            <a:endParaRPr lang="en-US" sz="1050" dirty="0"/>
          </a:p>
          <a:p>
            <a:pPr marL="342900" indent="-342900">
              <a:buSzPct val="100000"/>
              <a:buChar char="■"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ml_modeler.feature_selection → reasoning · cheap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DS Pipeline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8686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ARCHITECTURE — 2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Parallel review &amp; iterative feedback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0" cy="4389120"/>
          </a:xfrm>
          <a:prstGeom prst="rect">
            <a:avLst/>
          </a:prstGeom>
          <a:solidFill>
            <a:srgbClr val="FBF7F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438912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A — Fan-out review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134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producer, three parallel reviewers, one rejoin.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794760"/>
            <a:ext cx="1280160" cy="3657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831336"/>
            <a:ext cx="1280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867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EDA Analyst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096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raw_eda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2971800"/>
            <a:ext cx="128016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3008376"/>
            <a:ext cx="1280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5A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273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review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3794760"/>
            <a:ext cx="128016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3831336"/>
            <a:ext cx="1280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5A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834640" y="3867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Reviewer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4096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4617720"/>
            <a:ext cx="128016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654296"/>
            <a:ext cx="1280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5A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34640" y="4690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Stakeholder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794760"/>
            <a:ext cx="1280160" cy="3657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3831336"/>
            <a:ext cx="1280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3867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 Plan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4096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94560" y="4069080"/>
            <a:ext cx="548640" cy="-822960"/>
          </a:xfrm>
          <a:prstGeom prst="line">
            <a:avLst/>
          </a:prstGeom>
          <a:noFill/>
          <a:ln w="1397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194560" y="4069080"/>
            <a:ext cx="548640" cy="0"/>
          </a:xfrm>
          <a:prstGeom prst="line">
            <a:avLst/>
          </a:prstGeom>
          <a:noFill/>
          <a:ln w="1397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194560" y="4069080"/>
            <a:ext cx="548640" cy="822960"/>
          </a:xfrm>
          <a:prstGeom prst="line">
            <a:avLst/>
          </a:prstGeom>
          <a:noFill/>
          <a:ln w="1397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023360" y="3246120"/>
            <a:ext cx="548640" cy="822960"/>
          </a:xfrm>
          <a:prstGeom prst="line">
            <a:avLst/>
          </a:prstGeom>
          <a:noFill/>
          <a:ln w="1397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023360" y="4069080"/>
            <a:ext cx="548640" cy="0"/>
          </a:xfrm>
          <a:prstGeom prst="line">
            <a:avLst/>
          </a:prstGeom>
          <a:noFill/>
          <a:ln w="1397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023360" y="4892040"/>
            <a:ext cx="548640" cy="-822960"/>
          </a:xfrm>
          <a:prstGeom prst="line">
            <a:avLst/>
          </a:prstGeom>
          <a:noFill/>
          <a:ln w="1397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86868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fans out parallel nodes, joins on the next node's entry.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5623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EDA checkpoint (raw + processed) and the modeling hand-off.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46520" y="1783080"/>
            <a:ext cx="5166360" cy="4389120"/>
          </a:xfrm>
          <a:prstGeom prst="rect">
            <a:avLst/>
          </a:prstGeom>
          <a:solidFill>
            <a:srgbClr val="FBF7F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46520" y="1783080"/>
            <a:ext cx="73152" cy="438912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B — Planner / Executor loop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675120" y="2313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proposes, the executor critiques, they iterate.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3154680"/>
            <a:ext cx="1600200" cy="3657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2" name="Shape 40"/>
          <p:cNvSpPr/>
          <p:nvPr/>
        </p:nvSpPr>
        <p:spPr>
          <a:xfrm>
            <a:off x="6812280" y="3191256"/>
            <a:ext cx="160020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03720" y="3227832"/>
            <a:ext cx="1417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EDA Analyst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03720" y="3531870"/>
            <a:ext cx="14173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prep_plan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646920" y="3154680"/>
            <a:ext cx="1600200" cy="36576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46" name="Shape 44"/>
          <p:cNvSpPr/>
          <p:nvPr/>
        </p:nvSpPr>
        <p:spPr>
          <a:xfrm>
            <a:off x="9646920" y="3191256"/>
            <a:ext cx="160020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5A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738360" y="3227832"/>
            <a:ext cx="1417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Engineer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738360" y="3531870"/>
            <a:ext cx="14173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/ executes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458200" y="3383280"/>
            <a:ext cx="1143000" cy="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8412480" y="31638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458200" y="3611880"/>
            <a:ext cx="1143000" cy="0"/>
          </a:xfrm>
          <a:prstGeom prst="line">
            <a:avLst/>
          </a:prstGeom>
          <a:noFill/>
          <a:ln w="15875">
            <a:solidFill>
              <a:srgbClr val="FF5A00"/>
            </a:solidFill>
            <a:prstDash val="dash"/>
            <a:headEnd type="triangle"/>
          </a:ln>
        </p:spPr>
      </p:sp>
      <p:sp>
        <p:nvSpPr>
          <p:cNvPr id="52" name="Text 50"/>
          <p:cNvSpPr/>
          <p:nvPr/>
        </p:nvSpPr>
        <p:spPr>
          <a:xfrm>
            <a:off x="8412480" y="36484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(revise)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03720" y="4389120"/>
            <a:ext cx="4251960" cy="548640"/>
          </a:xfrm>
          <a:prstGeom prst="rect">
            <a:avLst/>
          </a:prstGeom>
          <a:solidFill>
            <a:srgbClr val="F0E9DE"/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43891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executor approves → run transformations → processed data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75120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on: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planning (EDA ↔ Data Engineer), modeling review gates, report revision.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DS Pipeline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8686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are today · 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0" cy="438912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3657600" cy="5943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Shipped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30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pre-modeling graph (raw EDA → prep loop → clean EDA).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loop with 8 modeler moves, 5 reviewer gates.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(Pydantic) on every LLM call.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· per-task model routing (3 capabilities × 3 cost tiers).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CV + test logging; LangSmith tracing wired 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657600" cy="438912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83080"/>
            <a:ext cx="3657600" cy="59436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flight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130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writer agent + final stakeholder brief.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cleaning.py, feature_engineering.py, profiling.py.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importance step inside the modeling loop.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Cost-override env var for pipeline-wide downshift.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57600" cy="4389120"/>
          </a:xfrm>
          <a:prstGeom prst="rect">
            <a:avLst/>
          </a:prstGeom>
          <a:solidFill>
            <a:srgbClr val="FBF7F1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783080"/>
            <a:ext cx="3657600" cy="59436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2130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follow-on 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58200" y="260604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+ Gemini providers behind the same routing interface.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Retry/fallback policy per capability (reasoning ≠ coding).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tests on the route resolver.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to diff agent decisions across runs.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623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74520" y="5623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nodes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5623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00600" y="5623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modeler moves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5623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26680" y="5623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gates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18320" y="5623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378440" y="5623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model slots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DS Pipeline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reactions, and push-back welcome.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728716" y="4297680"/>
            <a:ext cx="731520" cy="54864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Lewis  ·  </a:t>
            </a:r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Root Insurance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Data Science Pipeline</dc:title>
  <dc:subject>PptxGenJS Presentation</dc:subject>
  <dc:creator>multi_agent_ds</dc:creator>
  <cp:lastModifiedBy>multi_agent_ds</cp:lastModifiedBy>
  <cp:revision>1</cp:revision>
  <dcterms:created xsi:type="dcterms:W3CDTF">2026-04-16T23:38:50Z</dcterms:created>
  <dcterms:modified xsi:type="dcterms:W3CDTF">2026-04-16T23:38:50Z</dcterms:modified>
</cp:coreProperties>
</file>